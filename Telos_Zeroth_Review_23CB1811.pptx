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5"/>
    <p:sldId id="260" r:id="rId7"/>
    <p:sldId id="261" r:id="rId8"/>
    <p:sldId id="262" r:id="rId9"/>
    <p:sldId id="295" r:id="rId22"/>
  </p:sldIdLst>
  <p:sldSz cx="12192000" cy="6858000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  <p:embeddedFont>
      <p:font typeface="Oi" panose="020B0604020202020204" charset="0"/>
      <p:regular r:id="rId31"/>
    </p:embeddedFont>
  </p:embeddedFontLst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9496F4-DE71-4F18-AD07-9FDE4E680257}">
  <a:tblStyle styleId="{359496F4-DE71-4F18-AD07-9FDE4E6802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A53560-761C-4EF7-9A2E-57E2752CEB7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0458" autoAdjust="0"/>
  </p:normalViewPr>
  <p:slideViewPr>
    <p:cSldViewPr snapToGrid="0">
      <p:cViewPr varScale="1">
        <p:scale>
          <a:sx n="67" d="100"/>
          <a:sy n="67" d="100"/>
        </p:scale>
        <p:origin x="6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6F085-CED7-4928-84D6-4E2A448F741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COMPUTER SCIENCE AND BUSINESS SYSTEMS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0126D-6498-4EEA-B0A8-0BAC5A8E3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023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3;n">
            <a:extLst>
              <a:ext uri="{FF2B5EF4-FFF2-40B4-BE49-F238E27FC236}">
                <a16:creationId xmlns:a16="http://schemas.microsoft.com/office/drawing/2014/main" id="{7385F827-DC7F-ACCC-08DE-A8F5FCEF54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200"/>
              <a:buFont typeface="Calibri" panose="020F050202020403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F7582BF6-036D-4C56-9F45-5D8638069C4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7651" name="Google Shape;4;n">
            <a:extLst>
              <a:ext uri="{FF2B5EF4-FFF2-40B4-BE49-F238E27FC236}">
                <a16:creationId xmlns:a16="http://schemas.microsoft.com/office/drawing/2014/main" id="{CD980576-3347-CB77-D517-F94460958B94}"/>
              </a:ext>
            </a:extLst>
          </p:cNvPr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7652" name="Google Shape;5;n">
            <a:extLst>
              <a:ext uri="{FF2B5EF4-FFF2-40B4-BE49-F238E27FC236}">
                <a16:creationId xmlns:a16="http://schemas.microsoft.com/office/drawing/2014/main" id="{2255B56A-AE94-A53F-9074-0C8BD8B847C4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0725" name="Google Shape;6;n">
            <a:extLst>
              <a:ext uri="{FF2B5EF4-FFF2-40B4-BE49-F238E27FC236}">
                <a16:creationId xmlns:a16="http://schemas.microsoft.com/office/drawing/2014/main" id="{587FE673-9D3A-5C9E-BD59-625C5145247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6" name="Google Shape;7;n">
            <a:extLst>
              <a:ext uri="{FF2B5EF4-FFF2-40B4-BE49-F238E27FC236}">
                <a16:creationId xmlns:a16="http://schemas.microsoft.com/office/drawing/2014/main" id="{A3A61492-FB03-1F74-6B04-A740B40F6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7655" name="Google Shape;8;n">
            <a:extLst>
              <a:ext uri="{FF2B5EF4-FFF2-40B4-BE49-F238E27FC236}">
                <a16:creationId xmlns:a16="http://schemas.microsoft.com/office/drawing/2014/main" id="{D26F5987-A74F-0523-C1D4-543A6656151A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755237956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91;p1:notes">
            <a:extLst>
              <a:ext uri="{FF2B5EF4-FFF2-40B4-BE49-F238E27FC236}">
                <a16:creationId xmlns:a16="http://schemas.microsoft.com/office/drawing/2014/main" id="{35AC41CD-AE15-9036-7E63-C1DF3DC0401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1747" name="Google Shape;92;p1:notes">
            <a:extLst>
              <a:ext uri="{FF2B5EF4-FFF2-40B4-BE49-F238E27FC236}">
                <a16:creationId xmlns:a16="http://schemas.microsoft.com/office/drawing/2014/main" id="{B65C9278-9599-99DB-B095-B13389760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748" name="Google Shape;93;p1:notes">
            <a:extLst>
              <a:ext uri="{FF2B5EF4-FFF2-40B4-BE49-F238E27FC236}">
                <a16:creationId xmlns:a16="http://schemas.microsoft.com/office/drawing/2014/main" id="{10D8DBEA-92FC-1710-D2BC-E4BAD7D9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0B524C3-6846-4CC7-862F-98B4E3341E16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144498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07;p3:notes">
            <a:extLst>
              <a:ext uri="{FF2B5EF4-FFF2-40B4-BE49-F238E27FC236}">
                <a16:creationId xmlns:a16="http://schemas.microsoft.com/office/drawing/2014/main" id="{0D167DE2-6F3D-0AF6-40B6-2214EA30F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795" name="Google Shape;108;p3:notes">
            <a:extLst>
              <a:ext uri="{FF2B5EF4-FFF2-40B4-BE49-F238E27FC236}">
                <a16:creationId xmlns:a16="http://schemas.microsoft.com/office/drawing/2014/main" id="{7D833709-417B-F74B-148F-93EF9A9672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654332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22;p5:notes">
            <a:extLst>
              <a:ext uri="{FF2B5EF4-FFF2-40B4-BE49-F238E27FC236}">
                <a16:creationId xmlns:a16="http://schemas.microsoft.com/office/drawing/2014/main" id="{2B4AF63B-9388-28D7-E095-5F2CFEBE62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5843" name="Google Shape;123;p5:notes">
            <a:extLst>
              <a:ext uri="{FF2B5EF4-FFF2-40B4-BE49-F238E27FC236}">
                <a16:creationId xmlns:a16="http://schemas.microsoft.com/office/drawing/2014/main" id="{BBE65B91-F779-8D60-28DB-9541C6DAF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844" name="Google Shape;124;p5:notes">
            <a:extLst>
              <a:ext uri="{FF2B5EF4-FFF2-40B4-BE49-F238E27FC236}">
                <a16:creationId xmlns:a16="http://schemas.microsoft.com/office/drawing/2014/main" id="{4810AC36-41EA-2856-F9CE-D7591D0E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41E7F33-EB1E-4A62-88AB-3F29D3EA10A4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6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415488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30;p6:notes">
            <a:extLst>
              <a:ext uri="{FF2B5EF4-FFF2-40B4-BE49-F238E27FC236}">
                <a16:creationId xmlns:a16="http://schemas.microsoft.com/office/drawing/2014/main" id="{85EED39B-CF3B-314C-884A-939DA9E71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67" name="Google Shape;131;p6:notes">
            <a:extLst>
              <a:ext uri="{FF2B5EF4-FFF2-40B4-BE49-F238E27FC236}">
                <a16:creationId xmlns:a16="http://schemas.microsoft.com/office/drawing/2014/main" id="{44B764AC-274C-0923-99A9-23871483F1F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3892132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137;p7:notes">
            <a:extLst>
              <a:ext uri="{FF2B5EF4-FFF2-40B4-BE49-F238E27FC236}">
                <a16:creationId xmlns:a16="http://schemas.microsoft.com/office/drawing/2014/main" id="{D954ABEE-192E-F401-6DDD-647645C9356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7891" name="Google Shape;138;p7:notes">
            <a:extLst>
              <a:ext uri="{FF2B5EF4-FFF2-40B4-BE49-F238E27FC236}">
                <a16:creationId xmlns:a16="http://schemas.microsoft.com/office/drawing/2014/main" id="{8585B05B-914A-844F-17B8-95E46FC63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892" name="Google Shape;139;p7:notes">
            <a:extLst>
              <a:ext uri="{FF2B5EF4-FFF2-40B4-BE49-F238E27FC236}">
                <a16:creationId xmlns:a16="http://schemas.microsoft.com/office/drawing/2014/main" id="{09EDA073-398A-D00E-FFA1-1DA49215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B9C6E30-CA20-4E8C-9267-5B6F141AE9E2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8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36108300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">
  <p:cSld name="自定义版式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18;p2">
            <a:extLst>
              <a:ext uri="{FF2B5EF4-FFF2-40B4-BE49-F238E27FC236}">
                <a16:creationId xmlns:a16="http://schemas.microsoft.com/office/drawing/2014/main" id="{22506305-5DA1-BE6F-07E2-E7AAEAC290E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19;p2">
            <a:extLst>
              <a:ext uri="{FF2B5EF4-FFF2-40B4-BE49-F238E27FC236}">
                <a16:creationId xmlns:a16="http://schemas.microsoft.com/office/drawing/2014/main" id="{B82875B7-FCEA-C0B4-4509-C305F118AEF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20;p2">
            <a:extLst>
              <a:ext uri="{FF2B5EF4-FFF2-40B4-BE49-F238E27FC236}">
                <a16:creationId xmlns:a16="http://schemas.microsoft.com/office/drawing/2014/main" id="{84824F00-CD70-F711-107A-2AD140EB2D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B1922EEB-0FD6-43FB-AC15-10DE06246D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43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9919803A-B296-473E-730E-0B6DC0F48500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24;p3">
            <a:extLst>
              <a:ext uri="{FF2B5EF4-FFF2-40B4-BE49-F238E27FC236}">
                <a16:creationId xmlns:a16="http://schemas.microsoft.com/office/drawing/2014/main" id="{0876C9A5-8637-D8DF-AA31-35201A724C1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25;p3">
            <a:extLst>
              <a:ext uri="{FF2B5EF4-FFF2-40B4-BE49-F238E27FC236}">
                <a16:creationId xmlns:a16="http://schemas.microsoft.com/office/drawing/2014/main" id="{0FC7BC82-3091-7824-9FD6-E50C1B6CEB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F41E80-F787-4B95-AA3C-AD3CF87219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73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6B3F2AD6-F1A9-D0D7-C143-A114BB31D926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30;p4">
            <a:extLst>
              <a:ext uri="{FF2B5EF4-FFF2-40B4-BE49-F238E27FC236}">
                <a16:creationId xmlns:a16="http://schemas.microsoft.com/office/drawing/2014/main" id="{765584F6-498E-CAF3-A261-67CF9AC7B5F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31;p4">
            <a:extLst>
              <a:ext uri="{FF2B5EF4-FFF2-40B4-BE49-F238E27FC236}">
                <a16:creationId xmlns:a16="http://schemas.microsoft.com/office/drawing/2014/main" id="{85FF0AF1-E112-9A95-885B-14A2A32AEA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54689B-0725-4BFF-875E-0BDD9C5B70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5">
            <a:extLst>
              <a:ext uri="{FF2B5EF4-FFF2-40B4-BE49-F238E27FC236}">
                <a16:creationId xmlns:a16="http://schemas.microsoft.com/office/drawing/2014/main" id="{B5C6A587-E0EB-7079-0029-A3296B50BD22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34;p5">
            <a:extLst>
              <a:ext uri="{FF2B5EF4-FFF2-40B4-BE49-F238E27FC236}">
                <a16:creationId xmlns:a16="http://schemas.microsoft.com/office/drawing/2014/main" id="{08688843-7712-9EC5-159C-DDF88DB63F32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35;p5">
            <a:extLst>
              <a:ext uri="{FF2B5EF4-FFF2-40B4-BE49-F238E27FC236}">
                <a16:creationId xmlns:a16="http://schemas.microsoft.com/office/drawing/2014/main" id="{0E4AABA1-2947-2432-7DC1-1AD3B33B75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A49F153-255F-45B4-805A-CF5C5BED3D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89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ctrTitle"/>
          </p:nvPr>
        </p:nvSpPr>
        <p:spPr>
          <a:xfrm>
            <a:off x="914400" y="213075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Google Shape;39;p6">
            <a:extLst>
              <a:ext uri="{FF2B5EF4-FFF2-40B4-BE49-F238E27FC236}">
                <a16:creationId xmlns:a16="http://schemas.microsoft.com/office/drawing/2014/main" id="{511B8ABF-A8EC-7C1F-1E0A-F9A544E1C55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40;p6">
            <a:extLst>
              <a:ext uri="{FF2B5EF4-FFF2-40B4-BE49-F238E27FC236}">
                <a16:creationId xmlns:a16="http://schemas.microsoft.com/office/drawing/2014/main" id="{081978C2-A879-A5B2-A563-8E02238572EC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41;p6">
            <a:extLst>
              <a:ext uri="{FF2B5EF4-FFF2-40B4-BE49-F238E27FC236}">
                <a16:creationId xmlns:a16="http://schemas.microsoft.com/office/drawing/2014/main" id="{D86CB26E-3F25-C2EC-47E3-A5E3CAF1C7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DCEA3A6-D52A-4782-8B5E-EDA936AF78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91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963084" y="4407227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anchor="t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83C5F37-3B57-DFF2-FFDB-B8C7D0E2508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46;p7">
            <a:extLst>
              <a:ext uri="{FF2B5EF4-FFF2-40B4-BE49-F238E27FC236}">
                <a16:creationId xmlns:a16="http://schemas.microsoft.com/office/drawing/2014/main" id="{8D9F097B-B677-4D95-038D-50E324530FDE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47;p7">
            <a:extLst>
              <a:ext uri="{FF2B5EF4-FFF2-40B4-BE49-F238E27FC236}">
                <a16:creationId xmlns:a16="http://schemas.microsoft.com/office/drawing/2014/main" id="{16012499-C9D9-8BB1-C14B-9FC0196E5E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3EDF4C2-5364-4D7E-8865-4F117ABF1A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11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52;p8">
            <a:extLst>
              <a:ext uri="{FF2B5EF4-FFF2-40B4-BE49-F238E27FC236}">
                <a16:creationId xmlns:a16="http://schemas.microsoft.com/office/drawing/2014/main" id="{687932BC-DDF0-3F19-9513-98EF3E732397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53;p8">
            <a:extLst>
              <a:ext uri="{FF2B5EF4-FFF2-40B4-BE49-F238E27FC236}">
                <a16:creationId xmlns:a16="http://schemas.microsoft.com/office/drawing/2014/main" id="{AA698D0F-5A8E-A1CC-489B-6E04759F4D8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54;p8">
            <a:extLst>
              <a:ext uri="{FF2B5EF4-FFF2-40B4-BE49-F238E27FC236}">
                <a16:creationId xmlns:a16="http://schemas.microsoft.com/office/drawing/2014/main" id="{9FAE106C-44BA-4DA8-AD69-C21EAC2728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626CF0D-D93A-4905-9267-1121F1A055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72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3"/>
          </p:nvPr>
        </p:nvSpPr>
        <p:spPr>
          <a:xfrm>
            <a:off x="6193585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4"/>
          </p:nvPr>
        </p:nvSpPr>
        <p:spPr>
          <a:xfrm>
            <a:off x="6193585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61;p9">
            <a:extLst>
              <a:ext uri="{FF2B5EF4-FFF2-40B4-BE49-F238E27FC236}">
                <a16:creationId xmlns:a16="http://schemas.microsoft.com/office/drawing/2014/main" id="{2F3C0B09-0468-676D-DB01-C790276F18C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62;p9">
            <a:extLst>
              <a:ext uri="{FF2B5EF4-FFF2-40B4-BE49-F238E27FC236}">
                <a16:creationId xmlns:a16="http://schemas.microsoft.com/office/drawing/2014/main" id="{F9266759-708A-6F5B-3713-ECC18D3D1CF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63;p9">
            <a:extLst>
              <a:ext uri="{FF2B5EF4-FFF2-40B4-BE49-F238E27FC236}">
                <a16:creationId xmlns:a16="http://schemas.microsoft.com/office/drawing/2014/main" id="{6D76D902-83EC-C4F4-A0D6-37B589C76C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8311A22-CB81-41FD-BE46-BFC74A6798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78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4766733" y="273377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68;p10">
            <a:extLst>
              <a:ext uri="{FF2B5EF4-FFF2-40B4-BE49-F238E27FC236}">
                <a16:creationId xmlns:a16="http://schemas.microsoft.com/office/drawing/2014/main" id="{C58F0052-AC94-D261-BC16-45F204ADC2C9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69;p10">
            <a:extLst>
              <a:ext uri="{FF2B5EF4-FFF2-40B4-BE49-F238E27FC236}">
                <a16:creationId xmlns:a16="http://schemas.microsoft.com/office/drawing/2014/main" id="{FBE8FCDC-1739-ED4D-E88F-708E3C203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70;p10">
            <a:extLst>
              <a:ext uri="{FF2B5EF4-FFF2-40B4-BE49-F238E27FC236}">
                <a16:creationId xmlns:a16="http://schemas.microsoft.com/office/drawing/2014/main" id="{D9DC89FC-76F8-F902-0933-149EC3AE52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F60FE90-C124-4826-A19B-F8AECC74F0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32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75;p11">
            <a:extLst>
              <a:ext uri="{FF2B5EF4-FFF2-40B4-BE49-F238E27FC236}">
                <a16:creationId xmlns:a16="http://schemas.microsoft.com/office/drawing/2014/main" id="{4CD2CB97-7283-9B70-CF17-FD88FE34647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76;p11">
            <a:extLst>
              <a:ext uri="{FF2B5EF4-FFF2-40B4-BE49-F238E27FC236}">
                <a16:creationId xmlns:a16="http://schemas.microsoft.com/office/drawing/2014/main" id="{26AEE91D-FED9-E916-4EB5-9E30403026F2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77;p11">
            <a:extLst>
              <a:ext uri="{FF2B5EF4-FFF2-40B4-BE49-F238E27FC236}">
                <a16:creationId xmlns:a16="http://schemas.microsoft.com/office/drawing/2014/main" id="{E7CA492A-DD41-764C-66B7-D73FBAD446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E867DD4-CB8B-4DC1-8B5E-FBF14A06C3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5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2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81;p12">
            <a:extLst>
              <a:ext uri="{FF2B5EF4-FFF2-40B4-BE49-F238E27FC236}">
                <a16:creationId xmlns:a16="http://schemas.microsoft.com/office/drawing/2014/main" id="{DC818D45-3A01-9430-8E1E-40D88F687CD4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82;p12">
            <a:extLst>
              <a:ext uri="{FF2B5EF4-FFF2-40B4-BE49-F238E27FC236}">
                <a16:creationId xmlns:a16="http://schemas.microsoft.com/office/drawing/2014/main" id="{9ECCBC45-A7CE-1B43-9FCB-297DDE95E3F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83;p12">
            <a:extLst>
              <a:ext uri="{FF2B5EF4-FFF2-40B4-BE49-F238E27FC236}">
                <a16:creationId xmlns:a16="http://schemas.microsoft.com/office/drawing/2014/main" id="{3A193789-43CE-C88C-A84C-833434B7AB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1EE97FA-2885-4F9D-9107-2B4F35B2EB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202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 rot="5400000">
            <a:off x="7285038" y="1829128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472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398DEF48-912A-B4AF-DF5E-D605ED16D3A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5ABA9A16-059F-0CCE-2CA2-8A64E19BCC6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6C5108D5-A6AF-EEBE-E654-7CFD76DB55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37D0C78-CD42-43DD-8076-5DF7CC6C94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9639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;p1">
            <a:extLst>
              <a:ext uri="{FF2B5EF4-FFF2-40B4-BE49-F238E27FC236}">
                <a16:creationId xmlns:a16="http://schemas.microsoft.com/office/drawing/2014/main" id="{8FE9779B-9407-6C1B-6F6D-2EBB417E20D9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11;p1">
            <a:extLst>
              <a:ext uri="{FF2B5EF4-FFF2-40B4-BE49-F238E27FC236}">
                <a16:creationId xmlns:a16="http://schemas.microsoft.com/office/drawing/2014/main" id="{125CC40C-6CD1-58AE-203C-C735B16B5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12;p1">
            <a:extLst>
              <a:ext uri="{FF2B5EF4-FFF2-40B4-BE49-F238E27FC236}">
                <a16:creationId xmlns:a16="http://schemas.microsoft.com/office/drawing/2014/main" id="{069E8CE3-BC12-5B9F-5BF0-650EE46F9899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888888"/>
              </a:buClr>
              <a:buSzPts val="12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29" name="Google Shape;13;p1">
            <a:extLst>
              <a:ext uri="{FF2B5EF4-FFF2-40B4-BE49-F238E27FC236}">
                <a16:creationId xmlns:a16="http://schemas.microsoft.com/office/drawing/2014/main" id="{263B8388-555A-DB5F-EC60-B23D453FDF44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888888"/>
              </a:buClr>
              <a:buSzPts val="12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1030" name="Google Shape;14;p1">
            <a:extLst>
              <a:ext uri="{FF2B5EF4-FFF2-40B4-BE49-F238E27FC236}">
                <a16:creationId xmlns:a16="http://schemas.microsoft.com/office/drawing/2014/main" id="{25995A3F-A798-3F14-236C-FC84E41EFC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FFFFFF"/>
              </a:buClr>
              <a:buSzPts val="1200"/>
              <a:buFont typeface="Calibri" panose="020F0502020204030204" pitchFamily="34" charset="0"/>
              <a:buNone/>
              <a:defRPr sz="12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D60DA2C1-FFA6-465E-95AA-EFCEAD0DA71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428F78F6-5165-44D7-51FC-0E1198A88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2024785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lnSpc>
                <a:spcPct val="90000"/>
              </a:lnSpc>
              <a:buSzPct val="100000"/>
              <a:buFont typeface="Calibri"/>
              <a:buNone/>
              <a:defRPr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PANIMALAR ENGINEERING COLLEGE 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(An Autonomous Institution)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Bangalore Trunk Road, </a:t>
            </a:r>
            <a:r>
              <a:rPr lang="en-US" sz="3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Varadharajapuram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Poonamallee,Chennai-600 123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8" name="Google Shape;95;p14">
            <a:extLst>
              <a:ext uri="{FF2B5EF4-FFF2-40B4-BE49-F238E27FC236}">
                <a16:creationId xmlns:a16="http://schemas.microsoft.com/office/drawing/2014/main" id="{0F06C840-972E-F45F-4778-0FC4EC686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2229" y="2031999"/>
            <a:ext cx="11959771" cy="4689475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t>              </a:t>
            </a:r>
            <a:endParaRPr lang="en-IN" altLang="en-US" sz="3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>
              <a:defRPr b="1">
                <a:latin typeface="Times New Roman"/>
              </a:defRPr>
            </a:pPr>
            <a:r>
              <a:t>                        DEPARTMENT OF COMPUTER SCIENCE AND BUSINESS SYSTEMS</a:t>
            </a:r>
          </a:p>
          <a:p/>
          <a:p>
            <a:pPr>
              <a:defRPr sz="1900" b="1">
                <a:latin typeface="Times New Roman"/>
              </a:defRPr>
            </a:pPr>
            <a:r>
              <a:t>     TITLE: TELOS - Hyperlocal Peer-to-Peer (P2P) Asset Sharing Economy Platform</a:t>
            </a:r>
          </a:p>
          <a:p>
            <a:pPr>
              <a:defRPr sz="1400" i="1">
                <a:latin typeface="Times New Roman"/>
              </a:defRPr>
            </a:pPr>
            <a:r>
              <a:t>     SUBTITLE: Zero-Trust Escrow Ledger &amp; Privacy-Preserving Spatial Obfuscation</a:t>
            </a:r>
          </a:p>
          <a:p/>
          <a:p>
            <a:pPr>
              <a:defRPr sz="1300" b="1">
                <a:latin typeface="Times New Roman"/>
              </a:defRPr>
            </a:pPr>
            <a:r>
              <a:t>     COURSE: 23CB1811 - PROJECT REVIEW (ZEROTH REVIEW)</a:t>
            </a:r>
          </a:p>
          <a:p>
            <a:pPr>
              <a:defRPr sz="1400" b="1">
                <a:latin typeface="Times New Roman"/>
              </a:defRPr>
            </a:pPr>
            <a:r>
              <a:t>     TEAM NO: Batch ____</a:t>
            </a:r>
          </a:p>
          <a:p>
            <a:pPr>
              <a:defRPr sz="1400" b="1">
                <a:latin typeface="Times New Roman"/>
              </a:defRPr>
            </a:pPr>
            <a:r>
              <a:t>     TEAM MEMBERS:</a:t>
            </a:r>
          </a:p>
          <a:p>
            <a:pPr>
              <a:defRPr sz="1300">
                <a:latin typeface="Times New Roman"/>
              </a:defRPr>
            </a:pPr>
            <a:r>
              <a:t>     1. Student Name 1  [Register No: ____________] </a:t>
            </a:r>
          </a:p>
          <a:p>
            <a:pPr>
              <a:defRPr sz="1300">
                <a:latin typeface="Times New Roman"/>
              </a:defRPr>
            </a:pPr>
            <a:r>
              <a:t>     2. Student Name 2  [Register No: ____________] </a:t>
            </a:r>
          </a:p>
          <a:p>
            <a:pPr>
              <a:defRPr sz="1300">
                <a:latin typeface="Times New Roman"/>
              </a:defRPr>
            </a:pPr>
            <a:r>
              <a:t>     3. Student Name 3  [Register No: ____________]</a:t>
            </a:r>
          </a:p>
        </p:txBody>
      </p:sp>
      <p:sp>
        <p:nvSpPr>
          <p:cNvPr id="14340" name="Google Shape;97;p14">
            <a:extLst>
              <a:ext uri="{FF2B5EF4-FFF2-40B4-BE49-F238E27FC236}">
                <a16:creationId xmlns:a16="http://schemas.microsoft.com/office/drawing/2014/main" id="{5976D8C6-C7BA-1D4C-92D1-F08CD5925C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t>1</a:t>
            </a:r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9FE57-957D-ACF1-95AF-F1D91D09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24" y="365124"/>
            <a:ext cx="1501244" cy="1787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803650" y="6538911"/>
            <a:ext cx="45847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110;p16">
            <a:extLst>
              <a:ext uri="{FF2B5EF4-FFF2-40B4-BE49-F238E27FC236}">
                <a16:creationId xmlns:a16="http://schemas.microsoft.com/office/drawing/2014/main" id="{5075E9A2-B549-742C-E1E4-C2C407B694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6090" y="456045"/>
            <a:ext cx="10972800" cy="538162"/>
          </a:xfrm>
        </p:spPr>
        <p:txBody>
          <a:bodyPr>
            <a:normAutofit fontScale="90000"/>
          </a:bodyPr>
          <a:lstStyle/>
          <a:p>
            <a:pPr algn="l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t>                                          ABSTRACT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idx="4294967295"/>
          </p:nvPr>
        </p:nvSpPr>
        <p:spPr>
          <a:xfrm>
            <a:off x="239698" y="1256853"/>
            <a:ext cx="11549848" cy="5099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sz="1800" b="1">
                <a:latin typeface="Times New Roman"/>
              </a:rPr>
              <a:t>•  Hyperlocal Asset Sharing Economy: </a:t>
            </a:r>
            <a:r>
              <a:rPr sz="1800">
                <a:latin typeface="Times New Roman"/>
              </a:rPr>
              <a:t>TELOS is a zero-trust peer-to-peer platform designed for community members to lease underutilized tools, electronics, books, and specialized equipment locally.</a:t>
            </a:r>
          </a:p>
          <a:p/>
          <a:p>
            <a:r>
              <a:rPr sz="1800" b="1">
                <a:latin typeface="Times New Roman"/>
              </a:rPr>
              <a:t>•  Privacy-Preserving Spatial Obfuscation: </a:t>
            </a:r>
            <a:r>
              <a:rPr sz="1800">
                <a:latin typeface="Times New Roman"/>
              </a:rPr>
              <a:t>Employs PostGIS radial proximity search with coordinate obfuscation (2km-5km bounding area for unapproved requests) to shield exact home addresses prior to handoff approval.</a:t>
            </a:r>
          </a:p>
          <a:p/>
          <a:p>
            <a:r>
              <a:rPr sz="1800" b="1">
                <a:latin typeface="Times New Roman"/>
              </a:rPr>
              <a:t>•  Zero-Trust Multi-Split Escrow Ledger: </a:t>
            </a:r>
            <a:r>
              <a:rPr sz="1800">
                <a:latin typeface="Times New Roman"/>
              </a:rPr>
              <a:t>Implements a virtual escrow state machine (AVAILABLE -&gt; REQUESTED -&gt; APPROVED -&gt; ACTIVE -&gt; RETURNED) locking security deposits and rental fees to eliminate payment fraud.</a:t>
            </a:r>
          </a:p>
          <a:p/>
          <a:p>
            <a:r>
              <a:rPr sz="1800" b="1">
                <a:latin typeface="Times New Roman"/>
              </a:rPr>
              <a:t>•  Cryptographic Handoff Verification: </a:t>
            </a:r>
            <a:r>
              <a:rPr sz="1800">
                <a:latin typeface="Times New Roman"/>
              </a:rPr>
              <a:t>Utilizes dynamic, SHA-256 hashed time-bound QR code tokens (pickup &amp; return verification), enforcing non-repudiable physical handovers and automated penalty enforcement.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92500" y="6426200"/>
            <a:ext cx="5207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2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126;p18">
            <a:extLst>
              <a:ext uri="{FF2B5EF4-FFF2-40B4-BE49-F238E27FC236}">
                <a16:creationId xmlns:a16="http://schemas.microsoft.com/office/drawing/2014/main" id="{94ECE67A-3FD7-8F7B-3BF4-EBAD1D960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55545"/>
            <a:ext cx="10782300" cy="624114"/>
          </a:xfrm>
        </p:spPr>
        <p:txBody>
          <a:bodyPr>
            <a:normAutofit/>
          </a:bodyPr>
          <a:lstStyle/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t>                              PROBLEM STATEMENT</a:t>
            </a:r>
          </a:p>
        </p:txBody>
      </p:sp>
      <p:sp>
        <p:nvSpPr>
          <p:cNvPr id="18436" name="Google Shape;128;p18">
            <a:extLst>
              <a:ext uri="{FF2B5EF4-FFF2-40B4-BE49-F238E27FC236}">
                <a16:creationId xmlns:a16="http://schemas.microsoft.com/office/drawing/2014/main" id="{4EEC63D2-9ED8-67A8-5570-0403B477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t>3</a:t>
            </a:r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27400" y="6356350"/>
            <a:ext cx="52451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09132D-EB91-8D73-3A76-C3589C391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3115" y="1484484"/>
            <a:ext cx="1181627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sz="1800" b="1">
                <a:latin typeface="Times New Roman"/>
              </a:rPr>
              <a:t>1. Vulnerability of Physical Handoffs: </a:t>
            </a:r>
            <a:r>
              <a:rPr sz="1800">
                <a:latin typeface="Times New Roman"/>
              </a:rPr>
              <a:t>Traditional P2P rental systems lack cryptographic physical handoff verification, causing frequent disputes over missing items, damaged goods, or unverified returns.</a:t>
            </a:r>
          </a:p>
          <a:p/>
          <a:p>
            <a:r>
              <a:rPr sz="1800" b="1">
                <a:latin typeface="Times New Roman"/>
              </a:rPr>
              <a:t>2. Exposure of Sensitive Location Data: </a:t>
            </a:r>
            <a:r>
              <a:rPr sz="1800">
                <a:latin typeface="Times New Roman"/>
              </a:rPr>
              <a:t>Existing sharing platforms publicly expose exact residential coordinates during item browsing, subjecting lenders to privacy violations and physical security risks.</a:t>
            </a:r>
          </a:p>
          <a:p/>
          <a:p>
            <a:r>
              <a:rPr sz="1800" b="1">
                <a:latin typeface="Times New Roman"/>
              </a:rPr>
              <a:t>3. Absence of Financial &amp; Deposit Escrow: </a:t>
            </a:r>
            <a:r>
              <a:rPr sz="1800">
                <a:latin typeface="Times New Roman"/>
              </a:rPr>
              <a:t>Informal peer borrowing relies on unverified cash transfers without escrow protection, causing high rates of non-returned items and uncollected security deposits.</a:t>
            </a:r>
          </a:p>
          <a:p/>
          <a:p>
            <a:r>
              <a:rPr sz="1800" b="1">
                <a:latin typeface="Times New Roman"/>
              </a:rPr>
              <a:t>4. Underutilization of Community Capital: </a:t>
            </a:r>
            <a:r>
              <a:rPr sz="1800">
                <a:latin typeface="Times New Roman"/>
              </a:rPr>
              <a:t>Specialized tools and equipment sit idle due to lack of trust between community members and the absence of automated legal/contractual enforcement.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33;p19">
            <a:extLst>
              <a:ext uri="{FF2B5EF4-FFF2-40B4-BE49-F238E27FC236}">
                <a16:creationId xmlns:a16="http://schemas.microsoft.com/office/drawing/2014/main" id="{AFC3116B-B62F-4B53-F667-0B923C6D7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741362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t>                               EXISTING SYSTEM</a:t>
            </a:r>
            <a:endParaRPr lang="en-US" alt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0" name="Google Shape;135;p19">
            <a:extLst>
              <a:ext uri="{FF2B5EF4-FFF2-40B4-BE49-F238E27FC236}">
                <a16:creationId xmlns:a16="http://schemas.microsoft.com/office/drawing/2014/main" id="{7251549F-57D7-561B-8333-6ACBC92C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t>4</a:t>
            </a:r>
            <a:endParaRPr lang="en-US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90900" y="6356350"/>
            <a:ext cx="49403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874948-8F18-AEBC-4848-C20A66DB7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7984" y="1402137"/>
            <a:ext cx="11510419" cy="525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95000"/>
              <a:buFont typeface="Wingdings" panose="05000000000000000000" pitchFamily="2" charset="2"/>
              <a:buChar char="q"/>
            </a:pPr>
            <a:r>
              <a:rPr sz="1800" b="1">
                <a:latin typeface="Times New Roman"/>
              </a:rPr>
              <a:t>•  Traditional Online Classifieds (OLX, Craigslist): </a:t>
            </a:r>
            <a:r>
              <a:rPr sz="1800">
                <a:latin typeface="Times New Roman"/>
              </a:rPr>
              <a:t>Facilitate unverified user-to-user communication, offering zero transaction security, no escrow, and static location exposure.</a:t>
            </a:r>
          </a:p>
          <a:p/>
          <a:p>
            <a:r>
              <a:rPr sz="1800" b="1">
                <a:latin typeface="Times New Roman"/>
              </a:rPr>
              <a:t>•  Commercial Rental Platforms: </a:t>
            </a:r>
            <a:r>
              <a:rPr sz="1800">
                <a:latin typeface="Times New Roman"/>
              </a:rPr>
              <a:t>Require centralized inventory, expensive operational overhead, and rigid multi-day pricing models, excluding community micro-rentals.</a:t>
            </a:r>
          </a:p>
          <a:p/>
          <a:p>
            <a:r>
              <a:rPr sz="1800" b="1">
                <a:latin typeface="Times New Roman"/>
              </a:rPr>
              <a:t>•  Informal Neighborhood Messaging Groups: </a:t>
            </a:r>
            <a:r>
              <a:rPr sz="1800">
                <a:latin typeface="Times New Roman"/>
              </a:rPr>
              <a:t>Rely on unverified social messaging with manual cash transfers and no contract enforcement or damage liability protection.</a:t>
            </a:r>
          </a:p>
          <a:p/>
          <a:p>
            <a:r>
              <a:rPr sz="1800" b="1">
                <a:latin typeface="Times New Roman"/>
              </a:rPr>
              <a:t>•  Centralized Rental Aggregators: </a:t>
            </a:r>
            <a:r>
              <a:rPr sz="1800">
                <a:latin typeface="Times New Roman"/>
              </a:rPr>
              <a:t>Lack peer-to-peer scalability, spatial proximity matching, and dynamic cryptographic handoff verification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41;p20">
            <a:extLst>
              <a:ext uri="{FF2B5EF4-FFF2-40B4-BE49-F238E27FC236}">
                <a16:creationId xmlns:a16="http://schemas.microsoft.com/office/drawing/2014/main" id="{FC026480-416A-A98F-D627-E8BF44CE3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7389" y="-7879"/>
            <a:ext cx="10871200" cy="696686"/>
          </a:xfrm>
        </p:spPr>
        <p:txBody>
          <a:bodyPr>
            <a:normAutofit/>
          </a:bodyPr>
          <a:lstStyle/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t>                                   PROPOSED SYSTEM</a:t>
            </a:r>
          </a:p>
        </p:txBody>
      </p:sp>
      <p:sp>
        <p:nvSpPr>
          <p:cNvPr id="20483" name="Google Shape;142;p20">
            <a:extLst>
              <a:ext uri="{FF2B5EF4-FFF2-40B4-BE49-F238E27FC236}">
                <a16:creationId xmlns:a16="http://schemas.microsoft.com/office/drawing/2014/main" id="{A39E6E63-E303-D241-2CAD-2A663AF44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3578" y="1600200"/>
            <a:ext cx="11098822" cy="4525963"/>
          </a:xfrm>
        </p:spPr>
        <p:txBody>
          <a:bodyPr/>
          <a:lstStyle>
            <a:lvl1pPr marL="2286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Char char="•"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Char char="•"/>
              <a:defRPr/>
            </a:pPr>
            <a:endParaRPr lang="en-US" sz="3200" dirty="0">
              <a:latin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0484" name="Google Shape;143;p20">
            <a:extLst>
              <a:ext uri="{FF2B5EF4-FFF2-40B4-BE49-F238E27FC236}">
                <a16:creationId xmlns:a16="http://schemas.microsoft.com/office/drawing/2014/main" id="{BB6B2998-EF6F-54DB-9565-4B796B0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t>5</a:t>
            </a:r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Google Shape;134;p19">
            <a:extLst>
              <a:ext uri="{FF2B5EF4-FFF2-40B4-BE49-F238E27FC236}">
                <a16:creationId xmlns:a16="http://schemas.microsoft.com/office/drawing/2014/main" id="{4B708F43-6EA8-00D0-479B-7245286BD4DC}"/>
              </a:ext>
            </a:extLst>
          </p:cNvPr>
          <p:cNvSpPr txBox="1">
            <a:spLocks/>
          </p:cNvSpPr>
          <p:nvPr/>
        </p:nvSpPr>
        <p:spPr bwMode="auto">
          <a:xfrm>
            <a:off x="178778" y="539808"/>
            <a:ext cx="11708422" cy="5752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lvl="0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914400" lvl="1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371600" lvl="2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828800" lvl="3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286000" lvl="4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L="2743200" marR="0" lvl="5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sz="1800" b="1">
                <a:latin typeface="Times New Roman"/>
              </a:rPr>
              <a:t>•  TELOS P2P Asset Sharing Platform: </a:t>
            </a:r>
            <a:r>
              <a:rPr sz="1800">
                <a:latin typeface="Times New Roman"/>
              </a:rPr>
              <a:t>Provides a zero-trust digital platform connecting community lenders and borrowers for secure hyperlocal item leasing.</a:t>
            </a:r>
          </a:p>
          <a:p/>
          <a:p>
            <a:r>
              <a:rPr sz="1800" b="1">
                <a:latin typeface="Times New Roman"/>
              </a:rPr>
              <a:t>•  Privacy-Preserving Proximity Engine: </a:t>
            </a:r>
            <a:r>
              <a:rPr sz="1800">
                <a:latin typeface="Times New Roman"/>
              </a:rPr>
              <a:t>Employs PostGIS radial queries with 2km-5km coordinate obfuscation to mask exact home locations prior to mutual approval.</a:t>
            </a:r>
          </a:p>
          <a:p/>
          <a:p>
            <a:r>
              <a:rPr sz="1800" b="1">
                <a:latin typeface="Times New Roman"/>
              </a:rPr>
              <a:t>•  Virtual Escrow &amp; Multi-Split Wallet: </a:t>
            </a:r>
            <a:r>
              <a:rPr sz="1800">
                <a:latin typeface="Times New Roman"/>
              </a:rPr>
              <a:t>Locks security deposits and rental fees dynamically in virtual escrows to prevent non-payment or deposit withholding.</a:t>
            </a:r>
          </a:p>
          <a:p/>
          <a:p>
            <a:r>
              <a:rPr sz="1800" b="1">
                <a:latin typeface="Times New Roman"/>
              </a:rPr>
              <a:t>•  Cryptographic QR Handoff System: </a:t>
            </a:r>
            <a:r>
              <a:rPr sz="1800">
                <a:latin typeface="Times New Roman"/>
              </a:rPr>
              <a:t>Generates hashed time-bound QR tokens for pickup and return, guaranteeing non-repudiation and automated penalty calculation.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03182" y="6457724"/>
            <a:ext cx="5259614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0363-896F-02FF-90A6-3BFF265E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A7DB29-8ABD-F2A3-FFFC-17FA3B5116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6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306A63-70C3-83C7-79E6-43CE46F4F698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t>                                     BASEPAPER</a:t>
            </a:r>
            <a:endParaRPr lang="en-IN" sz="3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060290-4817-BFA2-6346-6181055A89C0}"/>
              </a:ext>
            </a:extLst>
          </p:cNvPr>
          <p:cNvSpPr txBox="1">
            <a:spLocks/>
          </p:cNvSpPr>
          <p:nvPr/>
        </p:nvSpPr>
        <p:spPr>
          <a:xfrm>
            <a:off x="838200" y="1248230"/>
            <a:ext cx="10515600" cy="49287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F57EB-C07D-9164-E6ED-4DDADEE8654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93143" y="6356350"/>
            <a:ext cx="554445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9C46EC-6249-7C82-DAC1-C65B96882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0" y="681036"/>
            <a:ext cx="1139952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sz="1800" b="1">
                <a:latin typeface="Times New Roman"/>
              </a:rPr>
              <a:t>PRIMARY IEEE BASEPAPER (2025):
</a:t>
            </a:r>
            <a:r>
              <a:rPr sz="1600" b="0">
                <a:latin typeface="Times New Roman"/>
              </a:rPr>
              <a:t>1. Z. Zheng, Z. Li, et al., </a:t>
            </a:r>
            <a:r>
              <a:rPr sz="1600" b="1">
                <a:latin typeface="Times New Roman"/>
              </a:rPr>
              <a:t>"Location Privacy: A Differentially Private Data Sharing Framework for Location-Based Peer-to-Peer Services," </a:t>
            </a:r>
            <a:r>
              <a:rPr sz="1600" b="0">
                <a:latin typeface="Times New Roman"/>
              </a:rPr>
              <a:t>IEEE Transactions on Dependable and Secure Computing (TDSC), vol. 22, no. 4, pp. 2410-2424, July-Aug. 2025.
</a:t>
            </a:r>
            <a:r>
              <a:rPr sz="1500" b="1">
                <a:latin typeface="Times New Roman"/>
              </a:rPr>
              <a:t>    * Role in Telos: </a:t>
            </a:r>
            <a:r>
              <a:rPr sz="1500" b="0">
                <a:latin typeface="Times New Roman"/>
              </a:rPr>
              <a:t>Provides theoretical framework for PostGIS spatial indexing &amp; 2km-5km location obfuscation.
</a:t>
            </a:r>
            <a:r>
              <a:rPr sz="1800" b="1">
                <a:latin typeface="Times New Roman"/>
              </a:rPr>
              <a:t>SUPPORTING IEEE BASEPAPERS (2024-2025):
</a:t>
            </a:r>
            <a:r>
              <a:rPr sz="1600" b="0">
                <a:latin typeface="Times New Roman"/>
              </a:rPr>
              <a:t>2. F. Song, J. Liang, C. Zhang, et al., </a:t>
            </a:r>
            <a:r>
              <a:rPr sz="1600" b="1">
                <a:latin typeface="Times New Roman"/>
              </a:rPr>
              <a:t>"Achieving Efficient and Privacy-Preserving Location-Based Task Recommendation in Spatial Crowdsourcing," </a:t>
            </a:r>
            <a:r>
              <a:rPr sz="1600" b="0">
                <a:latin typeface="Times New Roman"/>
              </a:rPr>
              <a:t>IEEE Transactions on Dependable and Secure Computing (TDSC), vol. 21, no. 4, pp. 1890-1904, July-Aug. 2024.
</a:t>
            </a:r>
            <a:r>
              <a:rPr sz="1500" b="1">
                <a:latin typeface="Times New Roman"/>
              </a:rPr>
              <a:t>    * Role in Telos: </a:t>
            </a:r>
            <a:r>
              <a:rPr sz="1500" b="0">
                <a:latin typeface="Times New Roman"/>
              </a:rPr>
              <a:t>Guides time-bound cryptographic QR verification tokens for zero-repudiation physical handoffs.
</a:t>
            </a:r>
            <a:r>
              <a:rPr sz="1600" b="0">
                <a:latin typeface="Times New Roman"/>
              </a:rPr>
              <a:t>3. M. A. Khan, et al., </a:t>
            </a:r>
            <a:r>
              <a:rPr sz="1600" b="1">
                <a:latin typeface="Times New Roman"/>
              </a:rPr>
              <a:t>"Blockchain-Enabled Trust Management with Location Privacy Preservation in Decentralized Peer-to-Peer Systems," </a:t>
            </a:r>
            <a:r>
              <a:rPr sz="1600" b="0">
                <a:latin typeface="Times New Roman"/>
              </a:rPr>
              <a:t>IEEE Internet of Things Journal (IoT-J), vol. 11, no. 8, pp. 14205-14218, April 2024.
</a:t>
            </a:r>
            <a:r>
              <a:rPr sz="1500" b="1">
                <a:latin typeface="Times New Roman"/>
              </a:rPr>
              <a:t>    * Role in Telos: </a:t>
            </a:r>
            <a:r>
              <a:rPr sz="1500" b="0">
                <a:latin typeface="Times New Roman"/>
              </a:rPr>
              <a:t>Provides ledger model for virtual escrow deposit locking and automated penalty calculation.</a:t>
            </a:r>
          </a:p>
        </p:txBody>
      </p:sp>
    </p:spTree>
    <p:extLst>
      <p:ext uri="{BB962C8B-B14F-4D97-AF65-F5344CB8AC3E}">
        <p14:creationId xmlns:p14="http://schemas.microsoft.com/office/powerpoint/2010/main" val="134695941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 13 1</Template>
  <TotalTime>1373</TotalTime>
  <Words>2694</Words>
  <Application>Microsoft Office PowerPoint</Application>
  <PresentationFormat>Widescreen</PresentationFormat>
  <Paragraphs>321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Wingdings</vt:lpstr>
      <vt:lpstr>Arial Narrow</vt:lpstr>
      <vt:lpstr>Times New Roman</vt:lpstr>
      <vt:lpstr>Oi</vt:lpstr>
      <vt:lpstr>Arial</vt:lpstr>
      <vt:lpstr>2_Office Theme</vt:lpstr>
      <vt:lpstr>                 PANIMALAR ENGINEERING COLLEGE                                     (An Autonomous Institution)                          Bangalore Trunk Road, Varadharajapuram                                   Poonamallee,Chennai-600 123 </vt:lpstr>
      <vt:lpstr>OVERVIEW</vt:lpstr>
      <vt:lpstr>OBJECTIVE</vt:lpstr>
      <vt:lpstr>                                          ABSTRACT</vt:lpstr>
      <vt:lpstr>                              LITERATURE SURVEY</vt:lpstr>
      <vt:lpstr>                               EXISTING SYSTEM</vt:lpstr>
      <vt:lpstr>LIMITATIONS OF EXISTING SYSTEM</vt:lpstr>
      <vt:lpstr>                                   PROPOSED SYSTEM</vt:lpstr>
      <vt:lpstr>ADVANTAGES OF PROPOSED SYSTEM </vt:lpstr>
      <vt:lpstr>ARCHITECTURE DIAGRAM</vt:lpstr>
      <vt:lpstr>SYSTEM REQUIRED SPECIFICATIONS</vt:lpstr>
      <vt:lpstr>                                     LIST OF MODULES</vt:lpstr>
      <vt:lpstr>MODULE 1</vt:lpstr>
      <vt:lpstr>OUTPUT SNIPS</vt:lpstr>
      <vt:lpstr>MODULE 2</vt:lpstr>
      <vt:lpstr>OUTPUT SNIPS</vt:lpstr>
      <vt:lpstr>MODULE 3</vt:lpstr>
      <vt:lpstr>OUTPUT SNIPS</vt:lpstr>
      <vt:lpstr>CONCLUSION</vt:lpstr>
      <vt:lpstr>FUTURE ENHANCEMENT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PANIMALAR ENGINEERING  COLLEGE</dc:title>
  <dc:creator>Sowmiya R</dc:creator>
  <cp:lastModifiedBy>rajtharun0806@gmail.com</cp:lastModifiedBy>
  <cp:revision>56</cp:revision>
  <dcterms:created xsi:type="dcterms:W3CDTF">2023-10-17T12:30:06Z</dcterms:created>
  <dcterms:modified xsi:type="dcterms:W3CDTF">2026-07-27T04:53:29Z</dcterms:modified>
</cp:coreProperties>
</file>